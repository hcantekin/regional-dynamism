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sources feed seven themes. Colour shows source type: most are administrative records or the Census, which matters because survey response rates have fallen (LFS/APS). Surveys are used only where no admin alternative exists (ASHE for hourly pay, APS for education and inactivity). The LBD job flows (red) are the outcome we are explaining; everything else describes 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2B39"/>
                </a:solidFill>
                <a:latin typeface="Arial"/>
              </a:rPr>
              <a:t>Building the ITL2 regional panel: 12 sources, 7 themes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A64"/>
                </a:solidFill>
                <a:latin typeface="Arial"/>
              </a:rPr>
              <a:t>Most of the panel comes from administrative records and the Census; surveys are used where no admin source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A64"/>
                </a:solidFill>
                <a:latin typeface="Arial"/>
              </a:rPr>
              <a:t>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29844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A64"/>
                </a:solidFill>
                <a:latin typeface="Arial"/>
              </a:rPr>
              <a:t>YEARS ·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29844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A64"/>
                </a:solidFill>
                <a:latin typeface="Arial"/>
              </a:rPr>
              <a:t>FEEDS INTO</a:t>
            </a:r>
          </a:p>
        </p:txBody>
      </p:sp>
      <p:sp>
        <p:nvSpPr>
          <p:cNvPr id="7" name="Source 1"/>
          <p:cNvSpPr/>
          <p:nvPr/>
        </p:nvSpPr>
        <p:spPr>
          <a:xfrm>
            <a:off x="457200" y="1600200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E3F4F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1700784"/>
            <a:ext cx="128016" cy="128016"/>
          </a:xfrm>
          <a:prstGeom prst="ellipse">
            <a:avLst/>
          </a:prstGeom>
          <a:solidFill>
            <a:srgbClr val="36B7B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LBD job flows (secure)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2003–24 · UK (NI from 2011)</a:t>
            </a:r>
          </a:p>
        </p:txBody>
      </p:sp>
      <p:sp>
        <p:nvSpPr>
          <p:cNvPr id="11" name="Source 2"/>
          <p:cNvSpPr/>
          <p:nvPr/>
        </p:nvSpPr>
        <p:spPr>
          <a:xfrm>
            <a:off x="457200" y="1984248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E3F4F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2084832"/>
            <a:ext cx="128016" cy="128016"/>
          </a:xfrm>
          <a:prstGeom prst="ellipse">
            <a:avLst/>
          </a:prstGeom>
          <a:solidFill>
            <a:srgbClr val="36B7B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84248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DWP claimant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984248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2004–25 · GB</a:t>
            </a:r>
          </a:p>
        </p:txBody>
      </p:sp>
      <p:sp>
        <p:nvSpPr>
          <p:cNvPr id="15" name="Source 3"/>
          <p:cNvSpPr/>
          <p:nvPr/>
        </p:nvSpPr>
        <p:spPr>
          <a:xfrm>
            <a:off x="457200" y="2368296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E3F4F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" y="2468880"/>
            <a:ext cx="128016" cy="128016"/>
          </a:xfrm>
          <a:prstGeom prst="ellipse">
            <a:avLst/>
          </a:prstGeom>
          <a:solidFill>
            <a:srgbClr val="36B7B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68296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HMRC PAYE payroll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68296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2014–26 · UK</a:t>
            </a:r>
          </a:p>
        </p:txBody>
      </p:sp>
      <p:sp>
        <p:nvSpPr>
          <p:cNvPr id="19" name="Source 4"/>
          <p:cNvSpPr/>
          <p:nvPr/>
        </p:nvSpPr>
        <p:spPr>
          <a:xfrm>
            <a:off x="457200" y="2752344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FCE6D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2852928"/>
            <a:ext cx="128016" cy="128016"/>
          </a:xfrm>
          <a:prstGeom prst="ellipse">
            <a:avLst/>
          </a:prstGeom>
          <a:solidFill>
            <a:srgbClr val="EB5C2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752344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Annual Population Survey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752344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2004–25 · UK (NI as one area)</a:t>
            </a:r>
          </a:p>
        </p:txBody>
      </p:sp>
      <p:sp>
        <p:nvSpPr>
          <p:cNvPr id="23" name="Source 5"/>
          <p:cNvSpPr/>
          <p:nvPr/>
        </p:nvSpPr>
        <p:spPr>
          <a:xfrm>
            <a:off x="457200" y="3136391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FCE6D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3236976"/>
            <a:ext cx="128016" cy="128016"/>
          </a:xfrm>
          <a:prstGeom prst="ellipse">
            <a:avLst/>
          </a:prstGeom>
          <a:solidFill>
            <a:srgbClr val="EB5C2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36391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ASHE (employer survey)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136391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2002–25 · GB</a:t>
            </a:r>
          </a:p>
        </p:txBody>
      </p:sp>
      <p:sp>
        <p:nvSpPr>
          <p:cNvPr id="27" name="Source 6"/>
          <p:cNvSpPr/>
          <p:nvPr/>
        </p:nvSpPr>
        <p:spPr>
          <a:xfrm>
            <a:off x="457200" y="3520440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FDF5DD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" y="3621024"/>
            <a:ext cx="128016" cy="128016"/>
          </a:xfrm>
          <a:prstGeom prst="ellipse">
            <a:avLst/>
          </a:prstGeom>
          <a:solidFill>
            <a:srgbClr val="F4C245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520440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Regional accounts (GVA, GDHI)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520440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1997–2024 · UK</a:t>
            </a:r>
          </a:p>
        </p:txBody>
      </p:sp>
      <p:sp>
        <p:nvSpPr>
          <p:cNvPr id="31" name="Source 7"/>
          <p:cNvSpPr/>
          <p:nvPr/>
        </p:nvSpPr>
        <p:spPr>
          <a:xfrm>
            <a:off x="457200" y="3904487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FDF5DD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66928" y="4005071"/>
            <a:ext cx="128016" cy="128016"/>
          </a:xfrm>
          <a:prstGeom prst="ellipse">
            <a:avLst/>
          </a:prstGeom>
          <a:solidFill>
            <a:srgbClr val="F4C245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904487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Subregional productivity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904487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2004–23 · UK</a:t>
            </a:r>
          </a:p>
        </p:txBody>
      </p:sp>
      <p:sp>
        <p:nvSpPr>
          <p:cNvPr id="35" name="Source 8"/>
          <p:cNvSpPr/>
          <p:nvPr/>
        </p:nvSpPr>
        <p:spPr>
          <a:xfrm>
            <a:off x="457200" y="4288536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E1F1F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6928" y="4389119"/>
            <a:ext cx="128016" cy="128016"/>
          </a:xfrm>
          <a:prstGeom prst="ellipse">
            <a:avLst/>
          </a:prstGeom>
          <a:solidFill>
            <a:srgbClr val="179FDB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288536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Mid-year population estimates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288536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1991–25 · UK</a:t>
            </a:r>
          </a:p>
        </p:txBody>
      </p:sp>
      <p:sp>
        <p:nvSpPr>
          <p:cNvPr id="39" name="Source 9"/>
          <p:cNvSpPr/>
          <p:nvPr/>
        </p:nvSpPr>
        <p:spPr>
          <a:xfrm>
            <a:off x="457200" y="4672583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E1F1F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6928" y="4773167"/>
            <a:ext cx="128016" cy="128016"/>
          </a:xfrm>
          <a:prstGeom prst="ellipse">
            <a:avLst/>
          </a:prstGeom>
          <a:solidFill>
            <a:srgbClr val="179FDB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672583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Census + rural classifications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4672583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2021/22 · UK (NI 2011)</a:t>
            </a:r>
          </a:p>
        </p:txBody>
      </p:sp>
      <p:sp>
        <p:nvSpPr>
          <p:cNvPr id="43" name="Source 10"/>
          <p:cNvSpPr/>
          <p:nvPr/>
        </p:nvSpPr>
        <p:spPr>
          <a:xfrm>
            <a:off x="457200" y="5056631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E1F1FA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6928" y="5157215"/>
            <a:ext cx="128016" cy="128016"/>
          </a:xfrm>
          <a:prstGeom prst="ellipse">
            <a:avLst/>
          </a:prstGeom>
          <a:solidFill>
            <a:srgbClr val="179FDB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056631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Small-area population + land area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5056631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2011–24 · UK</a:t>
            </a:r>
          </a:p>
        </p:txBody>
      </p:sp>
      <p:sp>
        <p:nvSpPr>
          <p:cNvPr id="47" name="Source 11"/>
          <p:cNvSpPr/>
          <p:nvPr/>
        </p:nvSpPr>
        <p:spPr>
          <a:xfrm>
            <a:off x="457200" y="5440680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E3F4F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66928" y="5541264"/>
            <a:ext cx="128016" cy="128016"/>
          </a:xfrm>
          <a:prstGeom prst="ellipse">
            <a:avLst/>
          </a:prstGeom>
          <a:solidFill>
            <a:srgbClr val="36B7B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440680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Internal migration (GP registers)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5440680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2012–24 · UK</a:t>
            </a:r>
          </a:p>
        </p:txBody>
      </p:sp>
      <p:sp>
        <p:nvSpPr>
          <p:cNvPr id="51" name="Source 12"/>
          <p:cNvSpPr/>
          <p:nvPr/>
        </p:nvSpPr>
        <p:spPr>
          <a:xfrm>
            <a:off x="457200" y="5824728"/>
            <a:ext cx="5212080" cy="329184"/>
          </a:xfrm>
          <a:prstGeom prst="roundRect">
            <a:avLst>
              <a:gd name="adj" fmla="val 18000"/>
            </a:avLst>
          </a:prstGeom>
          <a:solidFill>
            <a:srgbClr val="E3F4F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6928" y="5925312"/>
            <a:ext cx="128016" cy="128016"/>
          </a:xfrm>
          <a:prstGeom prst="ellipse">
            <a:avLst/>
          </a:prstGeom>
          <a:solidFill>
            <a:srgbClr val="36B7B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824728"/>
            <a:ext cx="2743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B39"/>
                </a:solidFill>
                <a:latin typeface="Arial"/>
              </a:rPr>
              <a:t>Land Registry Price Paid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5824728"/>
            <a:ext cx="2039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4"/>
                </a:solidFill>
                <a:latin typeface="Arial"/>
              </a:rPr>
              <a:t>1995–24 · England &amp; Wales</a:t>
            </a:r>
          </a:p>
        </p:txBody>
      </p:sp>
      <p:sp>
        <p:nvSpPr>
          <p:cNvPr id="55" name="Theme Business dynamism"/>
          <p:cNvSpPr/>
          <p:nvPr/>
        </p:nvSpPr>
        <p:spPr>
          <a:xfrm>
            <a:off x="7635240" y="1600200"/>
            <a:ext cx="4114800" cy="566928"/>
          </a:xfrm>
          <a:prstGeom prst="roundRect">
            <a:avLst>
              <a:gd name="adj" fmla="val 14000"/>
            </a:avLst>
          </a:prstGeom>
          <a:solidFill>
            <a:srgbClr val="E6224B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99831" y="1600200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Business dynamism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Job creation &amp; destruction, reallocation, entry &amp; exit</a:t>
            </a:r>
          </a:p>
        </p:txBody>
      </p:sp>
      <p:sp>
        <p:nvSpPr>
          <p:cNvPr id="57" name="Theme Labour market"/>
          <p:cNvSpPr/>
          <p:nvPr/>
        </p:nvSpPr>
        <p:spPr>
          <a:xfrm>
            <a:off x="7635240" y="2264664"/>
            <a:ext cx="4114800" cy="566928"/>
          </a:xfrm>
          <a:prstGeom prst="roundRect">
            <a:avLst>
              <a:gd name="adj" fmla="val 14000"/>
            </a:avLst>
          </a:prstGeom>
          <a:solidFill>
            <a:srgbClr val="122B39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99831" y="2264664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Labour market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Employees, employment, inactivity, claimants</a:t>
            </a:r>
          </a:p>
        </p:txBody>
      </p:sp>
      <p:sp>
        <p:nvSpPr>
          <p:cNvPr id="59" name="Theme Pay &amp; income"/>
          <p:cNvSpPr/>
          <p:nvPr/>
        </p:nvSpPr>
        <p:spPr>
          <a:xfrm>
            <a:off x="7635240" y="2929128"/>
            <a:ext cx="4114800" cy="566928"/>
          </a:xfrm>
          <a:prstGeom prst="roundRect">
            <a:avLst>
              <a:gd name="adj" fmla="val 14000"/>
            </a:avLst>
          </a:prstGeom>
          <a:solidFill>
            <a:srgbClr val="122B39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99831" y="2929128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Pay &amp; income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Earnings, payroll pay, household income</a:t>
            </a:r>
          </a:p>
        </p:txBody>
      </p:sp>
      <p:sp>
        <p:nvSpPr>
          <p:cNvPr id="61" name="Theme Output &amp; productivity"/>
          <p:cNvSpPr/>
          <p:nvPr/>
        </p:nvSpPr>
        <p:spPr>
          <a:xfrm>
            <a:off x="7635240" y="3593592"/>
            <a:ext cx="4114800" cy="566928"/>
          </a:xfrm>
          <a:prstGeom prst="roundRect">
            <a:avLst>
              <a:gd name="adj" fmla="val 14000"/>
            </a:avLst>
          </a:prstGeom>
          <a:solidFill>
            <a:srgbClr val="122B39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99831" y="3593592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Output &amp; productivity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Real GVA, GVA per hour and per job</a:t>
            </a:r>
          </a:p>
        </p:txBody>
      </p:sp>
      <p:sp>
        <p:nvSpPr>
          <p:cNvPr id="63" name="Theme Demographics &amp; skills"/>
          <p:cNvSpPr/>
          <p:nvPr/>
        </p:nvSpPr>
        <p:spPr>
          <a:xfrm>
            <a:off x="7635240" y="4258056"/>
            <a:ext cx="4114800" cy="566928"/>
          </a:xfrm>
          <a:prstGeom prst="roundRect">
            <a:avLst>
              <a:gd name="adj" fmla="val 14000"/>
            </a:avLst>
          </a:prstGeom>
          <a:solidFill>
            <a:srgbClr val="122B39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99831" y="4258056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Demographics &amp; skills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Population, age structure, education</a:t>
            </a:r>
          </a:p>
        </p:txBody>
      </p:sp>
      <p:sp>
        <p:nvSpPr>
          <p:cNvPr id="65" name="Theme Place"/>
          <p:cNvSpPr/>
          <p:nvPr/>
        </p:nvSpPr>
        <p:spPr>
          <a:xfrm>
            <a:off x="7635240" y="4922520"/>
            <a:ext cx="4114800" cy="566928"/>
          </a:xfrm>
          <a:prstGeom prst="roundRect">
            <a:avLst>
              <a:gd name="adj" fmla="val 14000"/>
            </a:avLst>
          </a:prstGeom>
          <a:solidFill>
            <a:srgbClr val="122B39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99831" y="4922520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Place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Density, population-weighted density, rurality</a:t>
            </a:r>
          </a:p>
        </p:txBody>
      </p:sp>
      <p:sp>
        <p:nvSpPr>
          <p:cNvPr id="67" name="Theme Migration &amp; housing"/>
          <p:cNvSpPr/>
          <p:nvPr/>
        </p:nvSpPr>
        <p:spPr>
          <a:xfrm>
            <a:off x="7635240" y="5586984"/>
            <a:ext cx="4114800" cy="566928"/>
          </a:xfrm>
          <a:prstGeom prst="roundRect">
            <a:avLst>
              <a:gd name="adj" fmla="val 14000"/>
            </a:avLst>
          </a:prstGeom>
          <a:solidFill>
            <a:srgbClr val="122B39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99831" y="5586984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Migration &amp; housing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Moves in, out and net; house prices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715000" y="1764792"/>
            <a:ext cx="1874519" cy="118872"/>
          </a:xfrm>
          <a:prstGeom prst="line">
            <a:avLst/>
          </a:prstGeom>
          <a:ln w="19050">
            <a:solidFill>
              <a:srgbClr val="36B7B4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15000" y="2148840"/>
            <a:ext cx="1874519" cy="399288"/>
          </a:xfrm>
          <a:prstGeom prst="line">
            <a:avLst/>
          </a:prstGeom>
          <a:ln w="19050">
            <a:solidFill>
              <a:srgbClr val="36B7B4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15000" y="2532888"/>
            <a:ext cx="1874519" cy="15240"/>
          </a:xfrm>
          <a:prstGeom prst="line">
            <a:avLst/>
          </a:prstGeom>
          <a:ln w="19050">
            <a:solidFill>
              <a:srgbClr val="36B7B4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15000" y="2532888"/>
            <a:ext cx="1874519" cy="679704"/>
          </a:xfrm>
          <a:prstGeom prst="line">
            <a:avLst/>
          </a:prstGeom>
          <a:ln w="19050">
            <a:solidFill>
              <a:srgbClr val="36B7B4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15000" y="2548128"/>
            <a:ext cx="1874519" cy="368808"/>
          </a:xfrm>
          <a:prstGeom prst="line">
            <a:avLst/>
          </a:prstGeom>
          <a:ln w="19050">
            <a:solidFill>
              <a:srgbClr val="EB5C2E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715000" y="2916936"/>
            <a:ext cx="1874519" cy="1624584"/>
          </a:xfrm>
          <a:prstGeom prst="line">
            <a:avLst/>
          </a:prstGeom>
          <a:ln w="19050">
            <a:solidFill>
              <a:srgbClr val="EB5C2E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715000" y="3212592"/>
            <a:ext cx="1874519" cy="88392"/>
          </a:xfrm>
          <a:prstGeom prst="line">
            <a:avLst/>
          </a:prstGeom>
          <a:ln w="19050">
            <a:solidFill>
              <a:srgbClr val="EB5C2E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715000" y="3212592"/>
            <a:ext cx="1874519" cy="472440"/>
          </a:xfrm>
          <a:prstGeom prst="line">
            <a:avLst/>
          </a:prstGeom>
          <a:ln w="19050">
            <a:solidFill>
              <a:srgbClr val="F4C245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715000" y="3685032"/>
            <a:ext cx="1874519" cy="192024"/>
          </a:xfrm>
          <a:prstGeom prst="line">
            <a:avLst/>
          </a:prstGeom>
          <a:ln w="19050">
            <a:solidFill>
              <a:srgbClr val="F4C245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15000" y="3877056"/>
            <a:ext cx="1874519" cy="192023"/>
          </a:xfrm>
          <a:prstGeom prst="line">
            <a:avLst/>
          </a:prstGeom>
          <a:ln w="19050">
            <a:solidFill>
              <a:srgbClr val="F4C245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715000" y="4453127"/>
            <a:ext cx="1874519" cy="88393"/>
          </a:xfrm>
          <a:prstGeom prst="line">
            <a:avLst/>
          </a:prstGeom>
          <a:ln w="19050">
            <a:solidFill>
              <a:srgbClr val="179FDB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15000" y="4453127"/>
            <a:ext cx="1874519" cy="752857"/>
          </a:xfrm>
          <a:prstGeom prst="line">
            <a:avLst/>
          </a:prstGeom>
          <a:ln w="19050">
            <a:solidFill>
              <a:srgbClr val="179FDB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715000" y="4541520"/>
            <a:ext cx="1874519" cy="295655"/>
          </a:xfrm>
          <a:prstGeom prst="line">
            <a:avLst/>
          </a:prstGeom>
          <a:ln w="19050">
            <a:solidFill>
              <a:srgbClr val="179FDB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715000" y="4837175"/>
            <a:ext cx="1874519" cy="368809"/>
          </a:xfrm>
          <a:prstGeom prst="line">
            <a:avLst/>
          </a:prstGeom>
          <a:ln w="19050">
            <a:solidFill>
              <a:srgbClr val="179FDB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715000" y="5205984"/>
            <a:ext cx="1874519" cy="15239"/>
          </a:xfrm>
          <a:prstGeom prst="line">
            <a:avLst/>
          </a:prstGeom>
          <a:ln w="19050">
            <a:solidFill>
              <a:srgbClr val="179FDB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715000" y="5605272"/>
            <a:ext cx="1874519" cy="265176"/>
          </a:xfrm>
          <a:prstGeom prst="line">
            <a:avLst/>
          </a:prstGeom>
          <a:ln w="19050">
            <a:solidFill>
              <a:srgbClr val="36B7B4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715000" y="5870448"/>
            <a:ext cx="1874519" cy="118872"/>
          </a:xfrm>
          <a:prstGeom prst="line">
            <a:avLst/>
          </a:prstGeom>
          <a:ln w="19050">
            <a:solidFill>
              <a:srgbClr val="36B7B4">
                <a:alpha val="75000"/>
              </a:srgb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57200" y="6272784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5A64"/>
                </a:solidFill>
                <a:latin typeface="Arial"/>
              </a:rPr>
              <a:t>Source type:</a:t>
            </a:r>
          </a:p>
        </p:txBody>
      </p:sp>
      <p:sp>
        <p:nvSpPr>
          <p:cNvPr id="87" name="Oval 86"/>
          <p:cNvSpPr/>
          <p:nvPr/>
        </p:nvSpPr>
        <p:spPr>
          <a:xfrm>
            <a:off x="1463040" y="6327648"/>
            <a:ext cx="118872" cy="118872"/>
          </a:xfrm>
          <a:prstGeom prst="ellipse">
            <a:avLst/>
          </a:prstGeom>
          <a:solidFill>
            <a:srgbClr val="36B7B4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645920" y="6272784"/>
            <a:ext cx="9619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A64"/>
                </a:solidFill>
                <a:latin typeface="Arial"/>
              </a:rPr>
              <a:t>Administrative</a:t>
            </a:r>
          </a:p>
        </p:txBody>
      </p:sp>
      <p:sp>
        <p:nvSpPr>
          <p:cNvPr id="89" name="Oval 88"/>
          <p:cNvSpPr/>
          <p:nvPr/>
        </p:nvSpPr>
        <p:spPr>
          <a:xfrm>
            <a:off x="2836468" y="6327648"/>
            <a:ext cx="118872" cy="118872"/>
          </a:xfrm>
          <a:prstGeom prst="ellipse">
            <a:avLst/>
          </a:prstGeom>
          <a:solidFill>
            <a:srgbClr val="179FDB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019348" y="6272784"/>
            <a:ext cx="9619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A64"/>
                </a:solidFill>
                <a:latin typeface="Arial"/>
              </a:rPr>
              <a:t>Admin + Census</a:t>
            </a:r>
          </a:p>
        </p:txBody>
      </p:sp>
      <p:sp>
        <p:nvSpPr>
          <p:cNvPr id="91" name="Oval 90"/>
          <p:cNvSpPr/>
          <p:nvPr/>
        </p:nvSpPr>
        <p:spPr>
          <a:xfrm>
            <a:off x="4209897" y="6327648"/>
            <a:ext cx="118872" cy="118872"/>
          </a:xfrm>
          <a:prstGeom prst="ellipse">
            <a:avLst/>
          </a:prstGeom>
          <a:solidFill>
            <a:srgbClr val="F4C245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92777" y="6272784"/>
            <a:ext cx="145938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A64"/>
                </a:solidFill>
                <a:latin typeface="Arial"/>
              </a:rPr>
              <a:t>Mixed (admin + survey)</a:t>
            </a:r>
          </a:p>
        </p:txBody>
      </p:sp>
      <p:sp>
        <p:nvSpPr>
          <p:cNvPr id="93" name="Oval 92"/>
          <p:cNvSpPr/>
          <p:nvPr/>
        </p:nvSpPr>
        <p:spPr>
          <a:xfrm>
            <a:off x="6080760" y="6327648"/>
            <a:ext cx="118872" cy="118872"/>
          </a:xfrm>
          <a:prstGeom prst="ellipse">
            <a:avLst/>
          </a:prstGeom>
          <a:solidFill>
            <a:srgbClr val="EB5C2E"/>
          </a:solidFill>
          <a:ln>
            <a:noFill/>
          </a:ln>
          <a:effectLst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63640" y="6272784"/>
            <a:ext cx="4645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A64"/>
                </a:solidFill>
                <a:latin typeface="Arial"/>
              </a:rPr>
              <a:t>Survey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A64"/>
                </a:solidFill>
                <a:latin typeface="Arial"/>
              </a:rPr>
              <a:t>Red = the outcome (secure LBD data). All series on ITL2 regions (41 on 2021 boundaries, 46 on 2025); counts summed from local authorities, rates derived at ITL2.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