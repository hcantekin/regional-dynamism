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in detail (all aggregated to ITL2 regions; most series also built on 2025 boundaries):</a:t>
            </a:r>
          </a:p>
          <a:p/>
          <a:p>
            <a:r>
              <a:t>LABOUR MARKET</a:t>
            </a:r>
          </a:p>
          <a:p>
            <a:r>
              <a:t>- PAYE payroll: HMRC PAYE Real Time Information (published by ONS). Payrolled employees and median/mean monthly pay, monthly Jul 2014-Aug 2026, averaged to calendar years. By where employees live; excludes self-employed. Accredited official statistics.</a:t>
            </a:r>
          </a:p>
          <a:p>
            <a:r>
              <a:t>- Claimant count: DWP benefit claimant records, via Nomis. GB only.</a:t>
            </a:r>
          </a:p>
          <a:p>
            <a:r>
              <a:t>- Internal migration: ONS estimates based on NHS GP patient registrations (England &amp; Wales, plus Northern Ireland flows); Scotland from National Records of Scotland. Years ending June. Moves between local authorities within the same region excluded. ONS changed its method from 2023.</a:t>
            </a:r>
          </a:p>
          <a:p>
            <a:r>
              <a:t>- ASHE earnings: Annual Survey of Hours and Earnings, a compulsory employer survey of a 1% sample of PAYE employees. Weekly and hourly pay percentiles, full-time workers, by home and by workplace. GB only.</a:t>
            </a:r>
          </a:p>
          <a:p>
            <a:r>
              <a:t>- Annual Population Survey (ONS household survey): employment, unemployment, inactivity and qualifications (education). Northern Ireland only as a whole region. Falling response rates; qualifications classification changed in 2022.</a:t>
            </a:r>
          </a:p>
          <a:p/>
          <a:p>
            <a:r>
              <a:t>HOUSING</a:t>
            </a:r>
          </a:p>
          <a:p>
            <a:r>
              <a:t>- Land Registry Price Paid: every residential sale in England &amp; Wales; median prices by property type and new-build. Scotland and NI have separate registers (not yet included).</a:t>
            </a:r>
          </a:p>
          <a:p/>
          <a:p>
            <a:r>
              <a:t>DEMOGRAPHIC</a:t>
            </a:r>
          </a:p>
          <a:p>
            <a:r>
              <a:t>- Population estimates: ONS / NRS / NISRA mid-year estimates by single year of age (Census-based, updated with births, deaths and migration records). Gives population, age bands, median age, dependency ratios.</a:t>
            </a:r>
          </a:p>
          <a:p>
            <a:r>
              <a:t>- Small-area population: population for small areas (LSOAs in England &amp; Wales, data zones in Scotland and NI) plus land area, used for density and population-weighted density (density where the average resident lives).</a:t>
            </a:r>
          </a:p>
          <a:p>
            <a:r>
              <a:t>- Census &amp; rurality: share of residents in rural areas, from each nation's official classification (England &amp; Wales 2021 Rural-Urban Classification; Scotland 2022 Urban Rural Classification; NI 2015 Settlement Classification with 2011 Census). Definitions differ by nation. Census 2011/2021 qualifications also used to check APS education.</a:t>
            </a:r>
          </a:p>
          <a:p/>
          <a:p>
            <a:r>
              <a:t>PRODUCTIVITY &amp; EXPORTS</a:t>
            </a:r>
          </a:p>
          <a:p>
            <a:r>
              <a:t>- Regional accounts (ONS): real GVA (chained volume) and gross disposable household income (GDHI) per head. Built from admin and survey sources.</a:t>
            </a:r>
          </a:p>
          <a:p>
            <a:r>
              <a:t>- ONS productivity: subregional GVA per hour worked and per filled job; hours worked come from surveys. Real values in 2022 prices.</a:t>
            </a:r>
          </a:p>
          <a:p/>
          <a:p>
            <a:r>
              <a:t>GENERAL</a:t>
            </a:r>
          </a:p>
          <a:p>
            <a:r>
              <a:t>- Counts summed from local authorities to ITL2; rates and shares derived at ITL2 (never averaged across areas). Nominal values kept with real (inflation-adjusted) columns added; CPIH and GDP deflator used.</a:t>
            </a:r>
          </a:p>
          <a:p>
            <a:r>
              <a:t>- Admin and Census sources prioritised because survey (LFS/APS) response rates have fallen.</a:t>
            </a:r>
          </a:p>
          <a:p>
            <a:r>
              <a:t>- Job-flow outcomes from the Longitudinal Business Database (ONS, Secure Access), on ITL2 2021 boundaries (41 regions), 2003-24, NI from 2011.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E3002B"/>
                </a:solidFill>
                <a:latin typeface="Arial"/>
              </a:rPr>
              <a:t>What we have collected so far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32688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000000"/>
                </a:solidFill>
                <a:latin typeface="Times New Roman"/>
              </a:rPr>
              <a:t>Data sources feeding each set of place-based indicators</a:t>
            </a:r>
          </a:p>
        </p:txBody>
      </p:sp>
      <p:sp>
        <p:nvSpPr>
          <p:cNvPr id="4" name="Theme Labour market"/>
          <p:cNvSpPr/>
          <p:nvPr/>
        </p:nvSpPr>
        <p:spPr>
          <a:xfrm>
            <a:off x="411480" y="1481328"/>
            <a:ext cx="1316736" cy="603504"/>
          </a:xfrm>
          <a:prstGeom prst="roundRect">
            <a:avLst>
              <a:gd name="adj" fmla="val 12000"/>
            </a:avLst>
          </a:prstGeom>
          <a:solidFill>
            <a:srgbClr val="E4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4632" y="1481328"/>
            <a:ext cx="11704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3B3F8F"/>
                </a:solidFill>
                <a:latin typeface="Arial"/>
              </a:rPr>
              <a:t>Labour market</a:t>
            </a:r>
          </a:p>
        </p:txBody>
      </p:sp>
      <p:sp>
        <p:nvSpPr>
          <p:cNvPr id="6" name="Isosceles Triangle 5"/>
          <p:cNvSpPr/>
          <p:nvPr/>
        </p:nvSpPr>
        <p:spPr>
          <a:xfrm>
            <a:off x="987551" y="2130552"/>
            <a:ext cx="164592" cy="109728"/>
          </a:xfrm>
          <a:prstGeom prst="triangle">
            <a:avLst/>
          </a:prstGeom>
          <a:solidFill>
            <a:srgbClr val="C9C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ource PAYE payroll"/>
          <p:cNvSpPr/>
          <p:nvPr/>
        </p:nvSpPr>
        <p:spPr>
          <a:xfrm>
            <a:off x="411480" y="2286000"/>
            <a:ext cx="1316736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C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" y="2286000"/>
            <a:ext cx="118871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B3F8F"/>
                </a:solidFill>
                <a:latin typeface="Arial"/>
              </a:rPr>
              <a:t>ADMIN</a:t>
            </a:r>
          </a:p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PAYE payroll</a:t>
            </a:r>
          </a:p>
          <a:p>
            <a:pPr algn="l"/>
            <a:r>
              <a:rPr sz="900" b="0" i="0">
                <a:solidFill>
                  <a:srgbClr val="5F6368"/>
                </a:solidFill>
                <a:latin typeface="Arial"/>
              </a:rPr>
              <a:t>2014–26</a:t>
            </a:r>
          </a:p>
        </p:txBody>
      </p:sp>
      <p:sp>
        <p:nvSpPr>
          <p:cNvPr id="9" name="Source Claimant count"/>
          <p:cNvSpPr/>
          <p:nvPr/>
        </p:nvSpPr>
        <p:spPr>
          <a:xfrm>
            <a:off x="411480" y="3017520"/>
            <a:ext cx="1316736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C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3017520"/>
            <a:ext cx="118871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B3F8F"/>
                </a:solidFill>
                <a:latin typeface="Arial"/>
              </a:rPr>
              <a:t>ADMIN</a:t>
            </a:r>
          </a:p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Claimant count</a:t>
            </a:r>
          </a:p>
          <a:p>
            <a:pPr algn="l"/>
            <a:r>
              <a:rPr sz="900" b="0" i="0">
                <a:solidFill>
                  <a:srgbClr val="5F6368"/>
                </a:solidFill>
                <a:latin typeface="Arial"/>
              </a:rPr>
              <a:t>2004–25 · GB</a:t>
            </a:r>
          </a:p>
        </p:txBody>
      </p:sp>
      <p:sp>
        <p:nvSpPr>
          <p:cNvPr id="11" name="Source Internal migration"/>
          <p:cNvSpPr/>
          <p:nvPr/>
        </p:nvSpPr>
        <p:spPr>
          <a:xfrm>
            <a:off x="411480" y="3749040"/>
            <a:ext cx="1316736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C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" y="3749040"/>
            <a:ext cx="118871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B3F8F"/>
                </a:solidFill>
                <a:latin typeface="Arial"/>
              </a:rPr>
              <a:t>ADMIN</a:t>
            </a:r>
          </a:p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Internal migration</a:t>
            </a:r>
          </a:p>
          <a:p>
            <a:pPr algn="l"/>
            <a:r>
              <a:rPr sz="900" b="0" i="0">
                <a:solidFill>
                  <a:srgbClr val="5F6368"/>
                </a:solidFill>
                <a:latin typeface="Arial"/>
              </a:rPr>
              <a:t>2012–24</a:t>
            </a:r>
          </a:p>
        </p:txBody>
      </p:sp>
      <p:sp>
        <p:nvSpPr>
          <p:cNvPr id="13" name="Source ASHE earnings"/>
          <p:cNvSpPr/>
          <p:nvPr/>
        </p:nvSpPr>
        <p:spPr>
          <a:xfrm>
            <a:off x="411480" y="4480560"/>
            <a:ext cx="1316736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C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" y="4480560"/>
            <a:ext cx="118871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E3002B"/>
                </a:solidFill>
                <a:latin typeface="Arial"/>
              </a:rPr>
              <a:t>SURVEY</a:t>
            </a:r>
          </a:p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ASHE earnings</a:t>
            </a:r>
          </a:p>
          <a:p>
            <a:pPr algn="l"/>
            <a:r>
              <a:rPr sz="900" b="0" i="0">
                <a:solidFill>
                  <a:srgbClr val="5F6368"/>
                </a:solidFill>
                <a:latin typeface="Arial"/>
              </a:rPr>
              <a:t>2002–25 · GB</a:t>
            </a:r>
          </a:p>
        </p:txBody>
      </p:sp>
      <p:sp>
        <p:nvSpPr>
          <p:cNvPr id="15" name="Source Annual Pop. Survey"/>
          <p:cNvSpPr/>
          <p:nvPr/>
        </p:nvSpPr>
        <p:spPr>
          <a:xfrm>
            <a:off x="411480" y="5212080"/>
            <a:ext cx="1316736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C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" y="5212080"/>
            <a:ext cx="118871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E3002B"/>
                </a:solidFill>
                <a:latin typeface="Arial"/>
              </a:rPr>
              <a:t>SURVEY</a:t>
            </a:r>
          </a:p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Annual Pop. Survey</a:t>
            </a:r>
          </a:p>
          <a:p>
            <a:pPr algn="l"/>
            <a:r>
              <a:rPr sz="900" b="0" i="0">
                <a:solidFill>
                  <a:srgbClr val="5F6368"/>
                </a:solidFill>
                <a:latin typeface="Arial"/>
              </a:rPr>
              <a:t>2004–25</a:t>
            </a:r>
          </a:p>
        </p:txBody>
      </p:sp>
      <p:sp>
        <p:nvSpPr>
          <p:cNvPr id="17" name="Theme Housing"/>
          <p:cNvSpPr/>
          <p:nvPr/>
        </p:nvSpPr>
        <p:spPr>
          <a:xfrm>
            <a:off x="1812340" y="1481328"/>
            <a:ext cx="1316736" cy="603504"/>
          </a:xfrm>
          <a:prstGeom prst="roundRect">
            <a:avLst>
              <a:gd name="adj" fmla="val 12000"/>
            </a:avLst>
          </a:prstGeom>
          <a:solidFill>
            <a:srgbClr val="E4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85492" y="1481328"/>
            <a:ext cx="11704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3B3F8F"/>
                </a:solidFill>
                <a:latin typeface="Arial"/>
              </a:rPr>
              <a:t>Housing</a:t>
            </a:r>
          </a:p>
        </p:txBody>
      </p:sp>
      <p:sp>
        <p:nvSpPr>
          <p:cNvPr id="19" name="Isosceles Triangle 18"/>
          <p:cNvSpPr/>
          <p:nvPr/>
        </p:nvSpPr>
        <p:spPr>
          <a:xfrm>
            <a:off x="2388412" y="2130552"/>
            <a:ext cx="164592" cy="109728"/>
          </a:xfrm>
          <a:prstGeom prst="triangle">
            <a:avLst/>
          </a:prstGeom>
          <a:solidFill>
            <a:srgbClr val="C9C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ource Land Registry sales"/>
          <p:cNvSpPr/>
          <p:nvPr/>
        </p:nvSpPr>
        <p:spPr>
          <a:xfrm>
            <a:off x="1812340" y="2286000"/>
            <a:ext cx="1316736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C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94636" y="2286000"/>
            <a:ext cx="118871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B3F8F"/>
                </a:solidFill>
                <a:latin typeface="Arial"/>
              </a:rPr>
              <a:t>ADMIN</a:t>
            </a:r>
          </a:p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Land Registry sales</a:t>
            </a:r>
          </a:p>
          <a:p>
            <a:pPr algn="l"/>
            <a:r>
              <a:rPr sz="900" b="0" i="0">
                <a:solidFill>
                  <a:srgbClr val="5F6368"/>
                </a:solidFill>
                <a:latin typeface="Arial"/>
              </a:rPr>
              <a:t>1995–24 · E&amp;W</a:t>
            </a:r>
          </a:p>
        </p:txBody>
      </p:sp>
      <p:sp>
        <p:nvSpPr>
          <p:cNvPr id="22" name="To build Housing"/>
          <p:cNvSpPr/>
          <p:nvPr/>
        </p:nvSpPr>
        <p:spPr>
          <a:xfrm>
            <a:off x="1812340" y="3017520"/>
            <a:ext cx="1316736" cy="658368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A0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94636" y="3017520"/>
            <a:ext cx="118871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F6368"/>
                </a:solidFill>
                <a:latin typeface="Arial"/>
              </a:rPr>
              <a:t>Next: </a:t>
            </a:r>
            <a:r>
              <a:rPr sz="900" b="0" i="0">
                <a:solidFill>
                  <a:srgbClr val="5F6368"/>
                </a:solidFill>
                <a:latin typeface="Arial"/>
              </a:rPr>
              <a:t>affordability ratios, rents</a:t>
            </a:r>
          </a:p>
        </p:txBody>
      </p:sp>
      <p:sp>
        <p:nvSpPr>
          <p:cNvPr id="24" name="Theme Infrastructure &amp; connectivity"/>
          <p:cNvSpPr/>
          <p:nvPr/>
        </p:nvSpPr>
        <p:spPr>
          <a:xfrm>
            <a:off x="3213201" y="1481328"/>
            <a:ext cx="1316736" cy="603504"/>
          </a:xfrm>
          <a:prstGeom prst="roundRect">
            <a:avLst>
              <a:gd name="adj" fmla="val 12000"/>
            </a:avLst>
          </a:prstGeom>
          <a:solidFill>
            <a:srgbClr val="E4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86353" y="1481328"/>
            <a:ext cx="11704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3B3F8F"/>
                </a:solidFill>
                <a:latin typeface="Arial"/>
              </a:rPr>
              <a:t>Infrastructure &amp; connectivity</a:t>
            </a:r>
          </a:p>
        </p:txBody>
      </p:sp>
      <p:sp>
        <p:nvSpPr>
          <p:cNvPr id="26" name="Isosceles Triangle 25"/>
          <p:cNvSpPr/>
          <p:nvPr/>
        </p:nvSpPr>
        <p:spPr>
          <a:xfrm>
            <a:off x="3789273" y="2130552"/>
            <a:ext cx="164592" cy="109728"/>
          </a:xfrm>
          <a:prstGeom prst="triangle">
            <a:avLst/>
          </a:prstGeom>
          <a:solidFill>
            <a:srgbClr val="C9C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o build Infrastructure &amp; connectivity"/>
          <p:cNvSpPr/>
          <p:nvPr/>
        </p:nvSpPr>
        <p:spPr>
          <a:xfrm>
            <a:off x="3213201" y="2286000"/>
            <a:ext cx="1316736" cy="658368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A0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5497" y="2286000"/>
            <a:ext cx="118871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F6368"/>
                </a:solidFill>
                <a:latin typeface="Arial"/>
              </a:rPr>
              <a:t>Next: </a:t>
            </a:r>
            <a:r>
              <a:rPr sz="900" b="0" i="0">
                <a:solidFill>
                  <a:srgbClr val="5F6368"/>
                </a:solidFill>
                <a:latin typeface="Arial"/>
              </a:rPr>
              <a:t>Commuting, journey times, digital access</a:t>
            </a:r>
          </a:p>
        </p:txBody>
      </p:sp>
      <p:sp>
        <p:nvSpPr>
          <p:cNvPr id="29" name="Theme Demographic"/>
          <p:cNvSpPr/>
          <p:nvPr/>
        </p:nvSpPr>
        <p:spPr>
          <a:xfrm>
            <a:off x="4614062" y="1481328"/>
            <a:ext cx="1316736" cy="603504"/>
          </a:xfrm>
          <a:prstGeom prst="roundRect">
            <a:avLst>
              <a:gd name="adj" fmla="val 12000"/>
            </a:avLst>
          </a:prstGeom>
          <a:solidFill>
            <a:srgbClr val="E4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7214" y="1481328"/>
            <a:ext cx="11704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3B3F8F"/>
                </a:solidFill>
                <a:latin typeface="Arial"/>
              </a:rPr>
              <a:t>Demographic</a:t>
            </a:r>
          </a:p>
        </p:txBody>
      </p:sp>
      <p:sp>
        <p:nvSpPr>
          <p:cNvPr id="31" name="Isosceles Triangle 30"/>
          <p:cNvSpPr/>
          <p:nvPr/>
        </p:nvSpPr>
        <p:spPr>
          <a:xfrm>
            <a:off x="5190134" y="2130552"/>
            <a:ext cx="164592" cy="109728"/>
          </a:xfrm>
          <a:prstGeom prst="triangle">
            <a:avLst/>
          </a:prstGeom>
          <a:solidFill>
            <a:srgbClr val="C9C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ource Population estimates"/>
          <p:cNvSpPr/>
          <p:nvPr/>
        </p:nvSpPr>
        <p:spPr>
          <a:xfrm>
            <a:off x="4614062" y="2286000"/>
            <a:ext cx="1316736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C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96358" y="2286000"/>
            <a:ext cx="118871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B3F8F"/>
                </a:solidFill>
                <a:latin typeface="Arial"/>
              </a:rPr>
              <a:t>ADMIN</a:t>
            </a:r>
          </a:p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Population estimates</a:t>
            </a:r>
          </a:p>
          <a:p>
            <a:pPr algn="l"/>
            <a:r>
              <a:rPr sz="900" b="0" i="0">
                <a:solidFill>
                  <a:srgbClr val="5F6368"/>
                </a:solidFill>
                <a:latin typeface="Arial"/>
              </a:rPr>
              <a:t>1991–25</a:t>
            </a:r>
          </a:p>
        </p:txBody>
      </p:sp>
      <p:sp>
        <p:nvSpPr>
          <p:cNvPr id="34" name="Source Small-area population"/>
          <p:cNvSpPr/>
          <p:nvPr/>
        </p:nvSpPr>
        <p:spPr>
          <a:xfrm>
            <a:off x="4614062" y="3017520"/>
            <a:ext cx="1316736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C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96358" y="3017520"/>
            <a:ext cx="118871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B3F8F"/>
                </a:solidFill>
                <a:latin typeface="Arial"/>
              </a:rPr>
              <a:t>ADMIN</a:t>
            </a:r>
          </a:p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Small-area population</a:t>
            </a:r>
          </a:p>
          <a:p>
            <a:pPr algn="l"/>
            <a:r>
              <a:rPr sz="900" b="0" i="0">
                <a:solidFill>
                  <a:srgbClr val="5F6368"/>
                </a:solidFill>
                <a:latin typeface="Arial"/>
              </a:rPr>
              <a:t>2011–24</a:t>
            </a:r>
          </a:p>
        </p:txBody>
      </p:sp>
      <p:sp>
        <p:nvSpPr>
          <p:cNvPr id="36" name="Source Census &amp; rurality"/>
          <p:cNvSpPr/>
          <p:nvPr/>
        </p:nvSpPr>
        <p:spPr>
          <a:xfrm>
            <a:off x="4614062" y="3749040"/>
            <a:ext cx="1316736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C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96358" y="3749040"/>
            <a:ext cx="118871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B3F8F"/>
                </a:solidFill>
                <a:latin typeface="Arial"/>
              </a:rPr>
              <a:t>CENSUS</a:t>
            </a:r>
          </a:p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Census &amp; rurality</a:t>
            </a:r>
          </a:p>
          <a:p>
            <a:pPr algn="l"/>
            <a:r>
              <a:rPr sz="900" b="0" i="0">
                <a:solidFill>
                  <a:srgbClr val="5F6368"/>
                </a:solidFill>
                <a:latin typeface="Arial"/>
              </a:rPr>
              <a:t>2021/22</a:t>
            </a:r>
          </a:p>
        </p:txBody>
      </p:sp>
      <p:sp>
        <p:nvSpPr>
          <p:cNvPr id="38" name="Theme Industrial"/>
          <p:cNvSpPr/>
          <p:nvPr/>
        </p:nvSpPr>
        <p:spPr>
          <a:xfrm>
            <a:off x="6014923" y="1481328"/>
            <a:ext cx="1316736" cy="603504"/>
          </a:xfrm>
          <a:prstGeom prst="roundRect">
            <a:avLst>
              <a:gd name="adj" fmla="val 12000"/>
            </a:avLst>
          </a:prstGeom>
          <a:solidFill>
            <a:srgbClr val="E4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88075" y="1481328"/>
            <a:ext cx="11704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3B3F8F"/>
                </a:solidFill>
                <a:latin typeface="Arial"/>
              </a:rPr>
              <a:t>Industrial</a:t>
            </a:r>
          </a:p>
        </p:txBody>
      </p:sp>
      <p:sp>
        <p:nvSpPr>
          <p:cNvPr id="40" name="Isosceles Triangle 39"/>
          <p:cNvSpPr/>
          <p:nvPr/>
        </p:nvSpPr>
        <p:spPr>
          <a:xfrm>
            <a:off x="6590995" y="2130552"/>
            <a:ext cx="164592" cy="109728"/>
          </a:xfrm>
          <a:prstGeom prst="triangle">
            <a:avLst/>
          </a:prstGeom>
          <a:solidFill>
            <a:srgbClr val="C9C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o build Industrial"/>
          <p:cNvSpPr/>
          <p:nvPr/>
        </p:nvSpPr>
        <p:spPr>
          <a:xfrm>
            <a:off x="6014923" y="2286000"/>
            <a:ext cx="1316736" cy="658368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A0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97219" y="2286000"/>
            <a:ext cx="118871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F6368"/>
                </a:solidFill>
                <a:latin typeface="Arial"/>
              </a:rPr>
              <a:t>Next: </a:t>
            </a:r>
            <a:r>
              <a:rPr sz="900" b="0" i="0">
                <a:solidFill>
                  <a:srgbClr val="5F6368"/>
                </a:solidFill>
                <a:latin typeface="Arial"/>
              </a:rPr>
              <a:t>Sectoral mix</a:t>
            </a:r>
          </a:p>
        </p:txBody>
      </p:sp>
      <p:sp>
        <p:nvSpPr>
          <p:cNvPr id="43" name="Theme Productivity &amp; exports"/>
          <p:cNvSpPr/>
          <p:nvPr/>
        </p:nvSpPr>
        <p:spPr>
          <a:xfrm>
            <a:off x="7415783" y="1481328"/>
            <a:ext cx="1316736" cy="603504"/>
          </a:xfrm>
          <a:prstGeom prst="roundRect">
            <a:avLst>
              <a:gd name="adj" fmla="val 12000"/>
            </a:avLst>
          </a:prstGeom>
          <a:solidFill>
            <a:srgbClr val="E4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88936" y="1481328"/>
            <a:ext cx="11704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3B3F8F"/>
                </a:solidFill>
                <a:latin typeface="Arial"/>
              </a:rPr>
              <a:t>Productivity &amp; exports</a:t>
            </a:r>
          </a:p>
        </p:txBody>
      </p:sp>
      <p:sp>
        <p:nvSpPr>
          <p:cNvPr id="45" name="Isosceles Triangle 44"/>
          <p:cNvSpPr/>
          <p:nvPr/>
        </p:nvSpPr>
        <p:spPr>
          <a:xfrm>
            <a:off x="7991856" y="2130552"/>
            <a:ext cx="164592" cy="109728"/>
          </a:xfrm>
          <a:prstGeom prst="triangle">
            <a:avLst/>
          </a:prstGeom>
          <a:solidFill>
            <a:srgbClr val="C9C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Source Regional accounts"/>
          <p:cNvSpPr/>
          <p:nvPr/>
        </p:nvSpPr>
        <p:spPr>
          <a:xfrm>
            <a:off x="7415783" y="2286000"/>
            <a:ext cx="1316736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C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79" y="2286000"/>
            <a:ext cx="118871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E3002B"/>
                </a:solidFill>
                <a:latin typeface="Arial"/>
              </a:rPr>
              <a:t>MIXED</a:t>
            </a:r>
          </a:p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Regional accounts</a:t>
            </a:r>
          </a:p>
          <a:p>
            <a:pPr algn="l"/>
            <a:r>
              <a:rPr sz="900" b="0" i="0">
                <a:solidFill>
                  <a:srgbClr val="5F6368"/>
                </a:solidFill>
                <a:latin typeface="Arial"/>
              </a:rPr>
              <a:t>1997–24</a:t>
            </a:r>
          </a:p>
        </p:txBody>
      </p:sp>
      <p:sp>
        <p:nvSpPr>
          <p:cNvPr id="48" name="Source ONS productivity"/>
          <p:cNvSpPr/>
          <p:nvPr/>
        </p:nvSpPr>
        <p:spPr>
          <a:xfrm>
            <a:off x="7415783" y="3017520"/>
            <a:ext cx="1316736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C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79" y="3017520"/>
            <a:ext cx="118871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E3002B"/>
                </a:solidFill>
                <a:latin typeface="Arial"/>
              </a:rPr>
              <a:t>MIXED</a:t>
            </a:r>
          </a:p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ONS productivity</a:t>
            </a:r>
          </a:p>
          <a:p>
            <a:pPr algn="l"/>
            <a:r>
              <a:rPr sz="900" b="0" i="0">
                <a:solidFill>
                  <a:srgbClr val="5F6368"/>
                </a:solidFill>
                <a:latin typeface="Arial"/>
              </a:rPr>
              <a:t>2004–23</a:t>
            </a:r>
          </a:p>
        </p:txBody>
      </p:sp>
      <p:sp>
        <p:nvSpPr>
          <p:cNvPr id="50" name="To build Productivity &amp; exports"/>
          <p:cNvSpPr/>
          <p:nvPr/>
        </p:nvSpPr>
        <p:spPr>
          <a:xfrm>
            <a:off x="7415783" y="3749040"/>
            <a:ext cx="1316736" cy="658368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A0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98079" y="3749040"/>
            <a:ext cx="118871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F6368"/>
                </a:solidFill>
                <a:latin typeface="Arial"/>
              </a:rPr>
              <a:t>Next: </a:t>
            </a:r>
            <a:r>
              <a:rPr sz="900" b="0" i="0">
                <a:solidFill>
                  <a:srgbClr val="5F6368"/>
                </a:solidFill>
                <a:latin typeface="Arial"/>
              </a:rPr>
              <a:t>exports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" y="6236208"/>
            <a:ext cx="8321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B3F8F"/>
                </a:solidFill>
                <a:latin typeface="Arial"/>
              </a:rPr>
              <a:t>ADMIN / CENSUS</a:t>
            </a:r>
            <a:r>
              <a:rPr sz="900" b="0" i="0">
                <a:solidFill>
                  <a:srgbClr val="5F6368"/>
                </a:solidFill>
                <a:latin typeface="Arial"/>
              </a:rPr>
              <a:t>  admin records or Census      </a:t>
            </a:r>
            <a:r>
              <a:rPr sz="800" b="1" i="0">
                <a:solidFill>
                  <a:srgbClr val="E3002B"/>
                </a:solidFill>
                <a:latin typeface="Arial"/>
              </a:rPr>
              <a:t>SURVEY / MIXED</a:t>
            </a:r>
            <a:r>
              <a:rPr sz="900" b="0" i="0">
                <a:solidFill>
                  <a:srgbClr val="5F6368"/>
                </a:solidFill>
                <a:latin typeface="Arial"/>
              </a:rPr>
              <a:t>  survey, or admin + survey      </a:t>
            </a:r>
            <a:r>
              <a:rPr sz="900" b="1" i="0">
                <a:solidFill>
                  <a:srgbClr val="5F6368"/>
                </a:solidFill>
                <a:latin typeface="Arial"/>
              </a:rPr>
              <a:t>Dashed</a:t>
            </a:r>
            <a:r>
              <a:rPr sz="900" b="0" i="0">
                <a:solidFill>
                  <a:srgbClr val="5F6368"/>
                </a:solidFill>
                <a:latin typeface="Arial"/>
              </a:rPr>
              <a:t>  still to collect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6473952"/>
            <a:ext cx="8321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Arial"/>
              </a:rPr>
              <a:t>Coverage UK unless stated. All indicators at ITL2, linked to LBD dynamism outcomes.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